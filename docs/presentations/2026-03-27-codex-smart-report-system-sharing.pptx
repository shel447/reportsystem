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定位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需求分析设计 / Coding Agent / 智能报告系统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为什么用 Codex 做需求期原型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3401568"/>
            <a:ext cx="6144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这次分享关注的是如何用 Coding Agent 缩短从需求到原型的距离，而不是直接产出一个生产可交付版本。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407408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42569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需求分析设计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67128" y="4407408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442569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原型加速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9896" y="4407408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442569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智能报告系统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1965960"/>
            <a:ext cx="3968496" cy="2761488"/>
          </a:xfrm>
          <a:prstGeom prst="roundRect">
            <a:avLst>
              <a:gd name="adj" fmla="val 2980"/>
            </a:avLst>
          </a:prstGeom>
          <a:solidFill>
            <a:srgbClr val="FFFFFF"/>
          </a:solidFill>
          <a:ln w="15240">
            <a:solidFill>
              <a:srgbClr val="D7E0EA"/>
            </a:solidFill>
            <a:prstDash val="solid"/>
          </a:ln>
          <a:effectLst>
            <a:outerShdw sx="100000" sy="100000" kx="0" ky="0" algn="bl" rotWithShape="0" blurRad="25400" dist="12700" dir="2700000">
              <a:srgbClr val="8AA4C7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22402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分享主线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90688" y="2606040"/>
            <a:ext cx="754380" cy="530352"/>
          </a:xfrm>
          <a:prstGeom prst="roundRect">
            <a:avLst>
              <a:gd name="adj" fmla="val 12069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2779776"/>
            <a:ext cx="461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背景边界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45068" y="2871216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91372" y="2606040"/>
            <a:ext cx="754380" cy="530352"/>
          </a:xfrm>
          <a:prstGeom prst="roundRect">
            <a:avLst>
              <a:gd name="adj" fmla="val 12069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37676" y="2779776"/>
            <a:ext cx="461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工具理念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45752" y="2871216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92056" y="2606040"/>
            <a:ext cx="754380" cy="530352"/>
          </a:xfrm>
          <a:prstGeom prst="roundRect">
            <a:avLst>
              <a:gd name="adj" fmla="val 12069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2779776"/>
            <a:ext cx="461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外网到内网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346436" y="2871216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492740" y="2606040"/>
            <a:ext cx="754380" cy="530352"/>
          </a:xfrm>
          <a:prstGeom prst="roundRect">
            <a:avLst>
              <a:gd name="adj" fmla="val 12069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39044" y="2779776"/>
            <a:ext cx="461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案例证据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3456432"/>
            <a:ext cx="816864" cy="530352"/>
          </a:xfrm>
          <a:prstGeom prst="roundRect">
            <a:avLst>
              <a:gd name="adj" fmla="val 12069"/>
            </a:avLst>
          </a:prstGeom>
          <a:solidFill>
            <a:srgbClr val="E8FAFB"/>
          </a:solidFill>
          <a:ln w="13970">
            <a:solidFill>
              <a:srgbClr val="98D7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3630168"/>
            <a:ext cx="524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多 agent 协作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73312" y="372160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19616" y="3456432"/>
            <a:ext cx="816864" cy="530352"/>
          </a:xfrm>
          <a:prstGeom prst="roundRect">
            <a:avLst>
              <a:gd name="adj" fmla="val 12069"/>
            </a:avLst>
          </a:prstGeom>
          <a:solidFill>
            <a:srgbClr val="E8FAFB"/>
          </a:solidFill>
          <a:ln w="13970">
            <a:solidFill>
              <a:srgbClr val="98D7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65920" y="3630168"/>
            <a:ext cx="524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调教经验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936480" y="372160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82784" y="3456432"/>
            <a:ext cx="816864" cy="530352"/>
          </a:xfrm>
          <a:prstGeom prst="roundRect">
            <a:avLst>
              <a:gd name="adj" fmla="val 12069"/>
            </a:avLst>
          </a:prstGeom>
          <a:solidFill>
            <a:srgbClr val="E8FAFB"/>
          </a:solidFill>
          <a:ln w="13970">
            <a:solidFill>
              <a:srgbClr val="98D7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29088" y="3630168"/>
            <a:ext cx="524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demo 转交付件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设计、开发团队 · 30 分钟 · 专业科技评审风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边界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背景与边界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这套方法优先解决“需求阶段如何避免空对空”，而不是直接替代完整工程交付流程。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51663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背景是加速需求分析设计，让设计、开发、需求方围绕真实对象讨论。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51663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重点是尽快把交互、接口、状态和约束跑出来，而不是一开始就追求工程终态。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51663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如果把目标错设为“一次生成可交付版本”，团队会对 agent 形成错误预期。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2331720"/>
            <a:ext cx="267004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51460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32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需求期原型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54496" y="3008376"/>
            <a:ext cx="146304" cy="14630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快速形成讨论对象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54496" y="3529584"/>
            <a:ext cx="146304" cy="14630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474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暴露真实交互与约束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54496" y="4050792"/>
            <a:ext cx="146304" cy="14630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995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支持高频迭代和试错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06256" y="2331720"/>
            <a:ext cx="267004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89136" y="251460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8FAFB"/>
          </a:solidFill>
          <a:ln w="12700">
            <a:solidFill>
              <a:srgbClr val="E8FA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89136" y="2532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交付版本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25712" y="3008376"/>
            <a:ext cx="146304" cy="146304"/>
          </a:xfrm>
          <a:prstGeom prst="ellipse">
            <a:avLst/>
          </a:prstGeom>
          <a:solidFill>
            <a:srgbClr val="0F9FA8"/>
          </a:solidFill>
          <a:ln w="12700">
            <a:solidFill>
              <a:srgbClr val="0F9FA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5168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完整治理与质量门槛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25712" y="3529584"/>
            <a:ext cx="146304" cy="146304"/>
          </a:xfrm>
          <a:prstGeom prst="ellipse">
            <a:avLst/>
          </a:prstGeom>
          <a:solidFill>
            <a:srgbClr val="0F9FA8"/>
          </a:solidFill>
          <a:ln w="12700">
            <a:solidFill>
              <a:srgbClr val="0F9FA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45168" y="3474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稳定性、安全、观测、权限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25712" y="4050792"/>
            <a:ext cx="146304" cy="146304"/>
          </a:xfrm>
          <a:prstGeom prst="ellipse">
            <a:avLst/>
          </a:prstGeom>
          <a:solidFill>
            <a:srgbClr val="0F9FA8"/>
          </a:solidFill>
          <a:ln w="12700">
            <a:solidFill>
              <a:srgbClr val="0F9FA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45168" y="3995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面向上线与长期维护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观点优先，边界先行，避免对 agent 产生错误预期。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工具理念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Codex 基本使用与工具理念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Codex 更像一个能读环境、会调用工具、会给出修改方案并执行验证的 agent，而不是传统意义上的代码编辑器。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5212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“为什么没有代码编辑区”这个问题的答案是：它优先围绕任务、上下文、工具和结果协作。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5212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典型工作方式不是“我盯着它一行行改”，而是“我给目标和边界，它读仓库、调工具、生成修改并验证”。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5212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人负责方向、范围和判断，agent 负责把方案快速落成可以检查的产物。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44768" y="2331720"/>
            <a:ext cx="5394960" cy="259689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5420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为什么没有代码编辑区？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82512" y="3054096"/>
            <a:ext cx="815645" cy="512064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227832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任务与目标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98157" y="331012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44461" y="3054096"/>
            <a:ext cx="815645" cy="512064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0765" y="3227832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读取环境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60106" y="331012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06410" y="3054096"/>
            <a:ext cx="815645" cy="512064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2714" y="3227832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调用工具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122054" y="331012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268358" y="3054096"/>
            <a:ext cx="815645" cy="512064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4662" y="3227832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产出修改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084003" y="331012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230307" y="3054096"/>
            <a:ext cx="815645" cy="512064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76611" y="3227832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验证结果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82512" y="3840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重点不是让人盯着代码逐行编辑，而是让 agent 先理解任务、环境、工具和验证方式，再决定如何执行。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Codex 是会读环境、调工具、做验证的 agent，不是传统在线 IDE。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方法价值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为什么适合做需求期 demo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当需求还没稳定时，最有价值的不是更快写完代码，而是更快把模糊想法变成可验证对象。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501091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文档和口头讨论很容易空转，真实页面、真实接口、真实状态流更容易暴露问题。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501091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需求期的关键不是把所有细节做完，而是判断方向是否对、边界是否清楚。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501091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一旦原型能跑起来，团队讨论会从“想象中的系统”转向“眼前的系统”。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71616" y="2331720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C3D6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5877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对齐上下文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8083296" y="2331720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8FAFB"/>
          </a:solidFill>
          <a:ln w="12700">
            <a:solidFill>
              <a:srgbClr val="CF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25877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暴露真实约束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6071616" y="3410712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C3D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66674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缩短反馈回路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8083296" y="3410712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8FAFB"/>
          </a:solidFill>
          <a:ln w="12700">
            <a:solidFill>
              <a:srgbClr val="CFE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366674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支撑后续迭代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输入越完整，agent 产出的第一轮质量越高。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输入准备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从外网到内网：需要哪些输入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做 demo 不是只给一句需求，而是要把目标、上下文、仓库、工具和验证方式一起交给 agent。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501091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最少输入包括：需求描述、目标边界、关键成功标准。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501091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还需要：设计上下文、代码仓库、skills 或工具清单、运行环境约束。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501091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最后要补上验证方式，否则 agent 很容易停在“看起来像完成”。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71616" y="2331720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C3D6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5877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需求目标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8083296" y="2331720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8FAFB"/>
          </a:solidFill>
          <a:ln w="12700">
            <a:solidFill>
              <a:srgbClr val="CF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25877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边界与非目标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10094976" y="2331720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C3D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59568" y="25877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设计上下文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6071616" y="3410712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8FAFB"/>
          </a:solidFill>
          <a:ln w="12700">
            <a:solidFill>
              <a:srgbClr val="CFE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66674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代码仓库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8083296" y="3410712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C3D6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66674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skills / 工具清单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10094976" y="3410712"/>
            <a:ext cx="1847088" cy="914400"/>
          </a:xfrm>
          <a:prstGeom prst="roundRect">
            <a:avLst>
              <a:gd name="adj" fmla="val 6000"/>
            </a:avLst>
          </a:prstGeom>
          <a:solidFill>
            <a:srgbClr val="E8FAFB"/>
          </a:solidFill>
          <a:ln w="12700">
            <a:solidFill>
              <a:srgbClr val="CFE2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59568" y="366674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验证方式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输入越完整，agent 产出的第一轮质量越高。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新项目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全新项目：从外网到内网的 demo 流程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全新项目更适合先在外网把原型拉起来，再通过代码仓库进入公司内网环境继续推进。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846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推荐路径是：外网构思与实现 -&gt; 上传 GitHub -&gt; 公司内下载与继续验证。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4846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这样做的核心是让 agent 先在可用环境里把最小系统跑起来，再进入受限环境。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4846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不推荐也不允许的路径是：个人 PC 放家里，通过内网穿透远程访问。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0" y="2331720"/>
            <a:ext cx="57790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2907792"/>
            <a:ext cx="1204722" cy="603504"/>
          </a:xfrm>
          <a:prstGeom prst="roundRect">
            <a:avLst>
              <a:gd name="adj" fmla="val 10606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308152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外网准备需求与上下文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21474" y="3209544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7778" y="2907792"/>
            <a:ext cx="1204722" cy="603504"/>
          </a:xfrm>
          <a:prstGeom prst="roundRect">
            <a:avLst>
              <a:gd name="adj" fmla="val 10606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4082" y="308152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外网生成原型并验证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72500" y="3209544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718804" y="2907792"/>
            <a:ext cx="1204722" cy="603504"/>
          </a:xfrm>
          <a:prstGeom prst="roundRect">
            <a:avLst>
              <a:gd name="adj" fmla="val 10606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5108" y="308152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代码上传 GitHub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923526" y="3209544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69830" y="2907792"/>
            <a:ext cx="1204722" cy="603504"/>
          </a:xfrm>
          <a:prstGeom prst="roundRect">
            <a:avLst>
              <a:gd name="adj" fmla="val 10606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16134" y="308152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公司内下载并继续推进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1675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推荐路径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4370832"/>
            <a:ext cx="5779008" cy="786384"/>
          </a:xfrm>
          <a:prstGeom prst="roundRect">
            <a:avLst>
              <a:gd name="adj" fmla="val 9302"/>
            </a:avLst>
          </a:prstGeom>
          <a:solidFill>
            <a:srgbClr val="FFF6DD"/>
          </a:solidFill>
          <a:ln w="12700">
            <a:solidFill>
              <a:srgbClr val="C48B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4498848"/>
            <a:ext cx="5413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8B1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反例提醒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4700016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7A5B1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个人 PC 放家里、通过内网穿透远程访问的方式，已咨询信息安全管理专员，不允许。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企业环境里，流程设计必须与安全边界一起考虑。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存量项目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存量项目：先外网复刻，再走同样链路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存量项目的关键不是直接把内网工程扔给 agent，而是先在外网复刻出可工作的最小上下文。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846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第一步是把项目必要部分在外网复刻出来，让 agent 能理解结构、依赖和主要流程。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4846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后续流程与全新项目类似：外网形成原型 -&gt; 代码入库 -&gt; 公司内继续集成。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48463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这样做的收益是让 agent 先有可操作上下文，而不是一上来卡在企业环境限制里。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0" y="2331720"/>
            <a:ext cx="57790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2907792"/>
            <a:ext cx="1204722" cy="603504"/>
          </a:xfrm>
          <a:prstGeom prst="roundRect">
            <a:avLst>
              <a:gd name="adj" fmla="val 10606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308152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外网复刻最小项目上下文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21474" y="3209544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7778" y="2907792"/>
            <a:ext cx="1204722" cy="603504"/>
          </a:xfrm>
          <a:prstGeom prst="roundRect">
            <a:avLst>
              <a:gd name="adj" fmla="val 10606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4082" y="308152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补齐设计与依赖说明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72500" y="3209544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718804" y="2907792"/>
            <a:ext cx="1204722" cy="603504"/>
          </a:xfrm>
          <a:prstGeom prst="roundRect">
            <a:avLst>
              <a:gd name="adj" fmla="val 10606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5108" y="308152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生成并验证原型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923526" y="3209544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69830" y="2907792"/>
            <a:ext cx="1204722" cy="603504"/>
          </a:xfrm>
          <a:prstGeom prst="roundRect">
            <a:avLst>
              <a:gd name="adj" fmla="val 10606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16134" y="3081528"/>
            <a:ext cx="912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进入公司内环境集成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16752" y="25786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推荐路径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企业环境里，流程设计必须与安全边界一起考虑。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范式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设计上下文、SDD 与 superpower skills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设计上下文应该成为设计阶段的正式输出，SDD 和 superpower skills 则负责把这份上下文稳定传递给开发与 agent。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50749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SDD 的价值在于按设计收敛、计划拆解、实现验证的顺序推进，而不是直接跳到编码。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50749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superpower skills 套件把高频工作流固化下来，减少 agent 每次临场试错。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50749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如果把“设计上下文”交给开发团队和 agent 一起消费，整个需求团队会更容易保持一致语境。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493776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C3D6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50292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需求与目标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E8FAFB"/>
          </a:solidFill>
          <a:ln w="12700">
            <a:solidFill>
              <a:srgbClr val="CF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5262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设计上下文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931920"/>
            <a:ext cx="3291840" cy="41148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C3D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023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SDD 实践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42900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E8FAFB"/>
          </a:solidFill>
          <a:ln w="12700">
            <a:solidFill>
              <a:srgbClr val="CFE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5204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superpower skills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292608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C3D6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017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实现与验证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设计上下文不该只停留在设计会议里，而应该成为后续开发共享的输入。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案例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为什么选智能报告系统做案例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智能报告系统不是单点页面，而是一条完整业务链路，因此很适合展示 Coding Agent 如何把抽象需求推进成可运行原型。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系统覆盖 chat、模板、实例、文档、任务、设置，具备完整操作面。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它同时需要交互体验、后端接口、数据模型和本地运行能力。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49377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这类系统最能体现“先跑起来，再围绕真实系统继续讨论”的价值。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15584" y="2331720"/>
            <a:ext cx="574243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5240" dist="12700" dir="2700000">
              <a:srgbClr val="8AA4C7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0176" y="2478024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真实系统截图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980176" y="2825496"/>
            <a:ext cx="5413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当前运行中的真实系统界面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5980176" y="3063240"/>
            <a:ext cx="5413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B7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浏览器访问 127.0.0.1:8300 后获取，覆盖对话、模板与文档操作面。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980176" y="3337560"/>
            <a:ext cx="1731264" cy="1353312"/>
          </a:xfrm>
          <a:prstGeom prst="roundRect">
            <a:avLst>
              <a:gd name="adj" fmla="val 4054"/>
            </a:avLst>
          </a:prstGeom>
          <a:solidFill>
            <a:srgbClr val="FBFCFF"/>
          </a:solidFill>
          <a:ln w="11430">
            <a:solidFill>
              <a:srgbClr val="D7E0EA"/>
            </a:solidFill>
            <a:prstDash val="solid"/>
          </a:ln>
        </p:spPr>
      </p:sp>
      <p:pic>
        <p:nvPicPr>
          <p:cNvPr id="29" name="Image 0" descr="E:\code\codex_projects\ReportSystemV2\docs\presentations\codex-smart-report-system-sharing-deck\assets\chat-page.png">    </p:cNvPr>
          <p:cNvPicPr>
            <a:picLocks noChangeAspect="1"/>
          </p:cNvPicPr>
          <p:nvPr/>
        </p:nvPicPr>
        <p:blipFill>
          <a:blip r:embed="rId1"/>
          <a:srcRect l="0" r="0" t="376" b="376"/>
          <a:stretch/>
        </p:blipFill>
        <p:spPr>
          <a:xfrm>
            <a:off x="6035040" y="3392424"/>
            <a:ext cx="1621536" cy="10058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053328" y="4471416"/>
            <a:ext cx="1584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对话助手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7821168" y="3337560"/>
            <a:ext cx="1731264" cy="1353312"/>
          </a:xfrm>
          <a:prstGeom prst="roundRect">
            <a:avLst>
              <a:gd name="adj" fmla="val 4054"/>
            </a:avLst>
          </a:prstGeom>
          <a:solidFill>
            <a:srgbClr val="FBFCFF"/>
          </a:solidFill>
          <a:ln w="11430">
            <a:solidFill>
              <a:srgbClr val="D7E0EA"/>
            </a:solidFill>
            <a:prstDash val="solid"/>
          </a:ln>
        </p:spPr>
      </p:sp>
      <p:pic>
        <p:nvPicPr>
          <p:cNvPr id="32" name="Image 1" descr="E:\code\codex_projects\ReportSystemV2\docs\presentations\codex-smart-report-system-sharing-deck\assets\template-detail-page.png">    </p:cNvPr>
          <p:cNvPicPr>
            <a:picLocks noChangeAspect="1"/>
          </p:cNvPicPr>
          <p:nvPr/>
        </p:nvPicPr>
        <p:blipFill>
          <a:blip r:embed="rId2"/>
          <a:srcRect l="0" r="0" t="29054" b="29054"/>
          <a:stretch/>
        </p:blipFill>
        <p:spPr>
          <a:xfrm>
            <a:off x="7876032" y="3392424"/>
            <a:ext cx="1621536" cy="10058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894320" y="4471416"/>
            <a:ext cx="1584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模板工作台</a:t>
            </a:r>
            <a:endParaRPr lang="en-US" sz="880" dirty="0"/>
          </a:p>
        </p:txBody>
      </p:sp>
      <p:sp>
        <p:nvSpPr>
          <p:cNvPr id="34" name="Shape 30"/>
          <p:cNvSpPr/>
          <p:nvPr/>
        </p:nvSpPr>
        <p:spPr>
          <a:xfrm>
            <a:off x="9662160" y="3337560"/>
            <a:ext cx="1731264" cy="1353312"/>
          </a:xfrm>
          <a:prstGeom prst="roundRect">
            <a:avLst>
              <a:gd name="adj" fmla="val 4054"/>
            </a:avLst>
          </a:prstGeom>
          <a:solidFill>
            <a:srgbClr val="FBFCFF"/>
          </a:solidFill>
          <a:ln w="11430">
            <a:solidFill>
              <a:srgbClr val="D7E0EA"/>
            </a:solidFill>
            <a:prstDash val="solid"/>
          </a:ln>
        </p:spPr>
      </p:sp>
      <p:pic>
        <p:nvPicPr>
          <p:cNvPr id="35" name="Image 2" descr="E:\code\codex_projects\ReportSystemV2\docs\presentations\codex-smart-report-system-sharing-deck\assets\documents-page.png">    </p:cNvPr>
          <p:cNvPicPr>
            <a:picLocks noChangeAspect="1"/>
          </p:cNvPicPr>
          <p:nvPr/>
        </p:nvPicPr>
        <p:blipFill>
          <a:blip r:embed="rId3"/>
          <a:srcRect l="0" r="0" t="376" b="376"/>
          <a:stretch/>
        </p:blipFill>
        <p:spPr>
          <a:xfrm>
            <a:off x="9717024" y="3392424"/>
            <a:ext cx="1621536" cy="10058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735312" y="4471416"/>
            <a:ext cx="1584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文档中心</a:t>
            </a:r>
            <a:endParaRPr lang="en-US" sz="880" dirty="0"/>
          </a:p>
        </p:txBody>
      </p:sp>
      <p:sp>
        <p:nvSpPr>
          <p:cNvPr id="37" name="Text 32"/>
          <p:cNvSpPr/>
          <p:nvPr/>
        </p:nvSpPr>
        <p:spPr>
          <a:xfrm>
            <a:off x="5980176" y="4773168"/>
            <a:ext cx="5413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截图来源：当前运行 demo http://127.0.0.1:8300/</a:t>
            </a:r>
            <a:endParaRPr lang="en-US" sz="740" dirty="0"/>
          </a:p>
        </p:txBody>
      </p:sp>
      <p:sp>
        <p:nvSpPr>
          <p:cNvPr id="38" name="Text 33"/>
          <p:cNvSpPr/>
          <p:nvPr/>
        </p:nvSpPr>
        <p:spPr>
          <a:xfrm>
            <a:off x="594360" y="603504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材料来源：E:/code/codex_projects/ReportSystemV2/design/design.md  |  E:/code/codex_projects/ReportSystemV2/src/frontend/src/app/App.tsx  |  E:/code/codex_projects/ReportSystemV2/docs/presentations/codex-smart-report-system-sharing-deck/assets/chat-page.png  |  E:/code/codex_projects/ReportSystemV2/docs/presentations/codex-smart-report-system-sharing-deck/assets/template-detail-page.png  |  E:/code/codex_projects/ReportSystemV2/docs/presentations/codex-smart-report-system-sharing-deck/assets/documents-page.png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工作流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设计到计划到实现：Coding Agent 的主工作流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真正有价值的不是某一次生成代码，而是把设计、计划、实现、测试和运行连成一条连续链路。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4805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第一步先收敛设计：边界、页面形态、关键交互、非目标。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44805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第二步拆实施计划：任务、修改范围、验证命令、预期结果。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44805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第三步落实现并验证，让系统真正跑起来，再承接团队讨论。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13248" y="2331720"/>
            <a:ext cx="6126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2704" y="2889504"/>
            <a:ext cx="819912" cy="621792"/>
          </a:xfrm>
          <a:prstGeom prst="roundRect">
            <a:avLst>
              <a:gd name="adj" fmla="val 10294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9008" y="3063240"/>
            <a:ext cx="527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设计收敛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52616" y="3200400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98920" y="2889504"/>
            <a:ext cx="819912" cy="621792"/>
          </a:xfrm>
          <a:prstGeom prst="roundRect">
            <a:avLst>
              <a:gd name="adj" fmla="val 10294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5224" y="3063240"/>
            <a:ext cx="527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实施计划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18832" y="3200400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65136" y="2889504"/>
            <a:ext cx="819912" cy="621792"/>
          </a:xfrm>
          <a:prstGeom prst="roundRect">
            <a:avLst>
              <a:gd name="adj" fmla="val 10294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1440" y="3063240"/>
            <a:ext cx="527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代码实现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85048" y="3200400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31352" y="2889504"/>
            <a:ext cx="819912" cy="621792"/>
          </a:xfrm>
          <a:prstGeom prst="roundRect">
            <a:avLst>
              <a:gd name="adj" fmla="val 10294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77656" y="3063240"/>
            <a:ext cx="527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测试验证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351264" y="3200400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497568" y="2889504"/>
            <a:ext cx="819912" cy="621792"/>
          </a:xfrm>
          <a:prstGeom prst="roundRect">
            <a:avLst>
              <a:gd name="adj" fmla="val 10294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3872" y="3063240"/>
            <a:ext cx="527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系统跑起来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317480" y="3200400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463784" y="2889504"/>
            <a:ext cx="819912" cy="621792"/>
          </a:xfrm>
          <a:prstGeom prst="roundRect">
            <a:avLst>
              <a:gd name="adj" fmla="val 10294"/>
            </a:avLst>
          </a:prstGeom>
          <a:solidFill>
            <a:srgbClr val="EAF2FF"/>
          </a:solidFill>
          <a:ln w="13970">
            <a:solidFill>
              <a:srgbClr val="C3D6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10088" y="3063240"/>
            <a:ext cx="527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团队继续讨论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87568" y="39136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人负责判断与取舍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924544" y="39136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agent 负责落地与验证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726680" y="3986784"/>
            <a:ext cx="1005840" cy="0"/>
          </a:xfrm>
          <a:prstGeom prst="line">
            <a:avLst/>
          </a:prstGeom>
          <a:noFill/>
          <a:ln w="1524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目标不是得到一段代码，而是得到一条可复用的原型生产线。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证据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证据 1：设计文档如何衔接到实施计划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原型并不是直接“上来写代码”，而是先形成可审查的设计，再形成可执行的计划。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2245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设计文档负责讲清目标、边界、页面家族与非目标。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42245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实施计划负责把任务拆成具体修改、测试命令和预期结果。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42245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这让 agent 的产出变得可检查、可复用、可回溯。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38928" y="2331720"/>
            <a:ext cx="309067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5240" dist="12700" dir="2700000">
              <a:srgbClr val="8AA4C7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2478024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E8FAFB"/>
          </a:solidFill>
          <a:ln w="12700">
            <a:solidFill>
              <a:srgbClr val="E8FA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真实设计文档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303520" y="2825496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Professional Workbench UX Redesign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303520" y="3063240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B6B7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直接摘自设计文档中的目标与页面家族定义。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303520" y="3319272"/>
            <a:ext cx="2761488" cy="1472184"/>
          </a:xfrm>
          <a:prstGeom prst="roundRect">
            <a:avLst>
              <a:gd name="adj" fmla="val 3106"/>
            </a:avLst>
          </a:prstGeom>
          <a:solidFill>
            <a:srgbClr val="F8FBFD"/>
          </a:solidFill>
          <a:ln w="10160">
            <a:solidFill>
              <a:srgbClr val="DCE5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3429000"/>
            <a:ext cx="25420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## Goals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1. Make the application feel like a coherent professional data product.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3. Give the chat flow a dominant single-column workspace.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4. Split browsing and editing/detail work into separate pages.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### Page families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1. Conversation pages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2. List pages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3. Detail pages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4928616"/>
            <a:ext cx="2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docs/plans/2026-03-18-professional-workbench-ux-design.md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412480" y="2331720"/>
            <a:ext cx="309067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5240" dist="12700" dir="2700000">
              <a:srgbClr val="8AA4C7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77072" y="2478024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E8FAFB"/>
          </a:solidFill>
          <a:ln w="12700">
            <a:solidFill>
              <a:srgbClr val="E8FA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7072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真实实施计划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577072" y="2825496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Implementation Plan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577072" y="3063240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B6B7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直接摘自实施计划中的目标、架构与首个任务拆解。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577072" y="3319272"/>
            <a:ext cx="2761488" cy="1472184"/>
          </a:xfrm>
          <a:prstGeom prst="roundRect">
            <a:avLst>
              <a:gd name="adj" fmla="val 3106"/>
            </a:avLst>
          </a:prstGeom>
          <a:solidFill>
            <a:srgbClr val="F8FBFD"/>
          </a:solidFill>
          <a:ln w="10160">
            <a:solidFill>
              <a:srgbClr val="DCE5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3429000"/>
            <a:ext cx="25420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Goal: Refactor the React frontend into a more polished professional workbench UX.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Architecture: Keep the existing React + Vite app and API contracts.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### Task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Lock in shell hierarchy and route structure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Add /templates/:templateId, /templates/new, /instances/:instanceId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Run: npm test -- src/app/App.test.tsx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Expected: PASS.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77072" y="4928616"/>
            <a:ext cx="2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docs/plans/2026-03-18-professional-workbench-ux-implementation-plan.md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94360" y="603504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材料来源：E:/code/codex_projects/ReportSystemV2/docs/plans/2026-03-18-professional-workbench-ux-design.md  |  E:/code/codex_projects/ReportSystemV2/docs/plans/2026-03-18-professional-workbench-ux-implementation-plan.md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证据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证据 2：前后端如何接成可运行系统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我们最终拿到的不是若干页面碎片，而是一个前后端打通、可直接启动的系统原型。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2245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后端入口统一挂载模板、实例、文档、任务、聊天、设置等路由。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42245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前端路由组织主要页面，并由后端统一托管静态资源。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42245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部署文档把依赖、入口、数据库和启动命令全部落成可执行说明。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38928" y="2331720"/>
            <a:ext cx="309067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5240" dist="12700" dir="2700000">
              <a:srgbClr val="8AA4C7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2478024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真实代码摘录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303520" y="2825496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后端入口 + 启动验证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303520" y="3063240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B6B7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main.py 路由挂载与部署手册中的启动、验证命令。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303520" y="3319272"/>
            <a:ext cx="2761488" cy="1472184"/>
          </a:xfrm>
          <a:prstGeom prst="roundRect">
            <a:avLst>
              <a:gd name="adj" fmla="val 3106"/>
            </a:avLst>
          </a:prstGeom>
          <a:solidFill>
            <a:srgbClr val="F6F8FC"/>
          </a:solidFill>
          <a:ln w="10160">
            <a:solidFill>
              <a:srgbClr val="D5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3429000"/>
            <a:ext cx="25420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app.include_router(templates.router, prefix=API_PREFIX)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app.include_router(instances.router, prefix=API_PREFIX)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app.include_router(documents.router, prefix=API_PREFIX)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app.include_router(tasks.router, prefix=API_PREFIX)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app.include_router(chat.router, prefix=API_PREFIX)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@app.get("/{full_path:path}")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uvicorn src.backend.main:app --host 0.0.0.0 --port 8300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Invoke-RestMethod -Uri 'http://127.0.0.1:8300/openapi.json'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303520" y="4928616"/>
            <a:ext cx="2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src/backend/main.py + design/deployment_guide.md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412480" y="2331720"/>
            <a:ext cx="309067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5240" dist="12700" dir="2700000">
              <a:srgbClr val="8AA4C7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77072" y="2478024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7072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真实代码摘录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577072" y="2825496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前端路由结构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577072" y="3063240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B6B7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App.tsx 中当前实际挂载的页面路由。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577072" y="3319272"/>
            <a:ext cx="2761488" cy="1472184"/>
          </a:xfrm>
          <a:prstGeom prst="roundRect">
            <a:avLst>
              <a:gd name="adj" fmla="val 3106"/>
            </a:avLst>
          </a:prstGeom>
          <a:solidFill>
            <a:srgbClr val="F6F8FC"/>
          </a:solidFill>
          <a:ln w="10160">
            <a:solidFill>
              <a:srgbClr val="D5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3429000"/>
            <a:ext cx="254203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&lt;Routes&gt;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path="/" element={&lt;Navigate to="/chat" replace /&gt;}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path="/chat" element={&lt;ChatPage /&gt;}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path="/templates" element={&lt;TemplatesPage /&gt;}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path="/templates/:templateId" element={&lt;TemplateDetailPage /&gt;}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path="/instances" element={&lt;InstancesPage /&gt;}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path="/instances/:instanceId" element={&lt;InstanceDetailPage /&gt;}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path="/documents" element={&lt;DocumentsPage /&gt;}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path="/settings" element={&lt;SettingsPage /&gt;} /&gt;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&lt;/Routes&gt;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577072" y="4928616"/>
            <a:ext cx="2761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src/frontend/src/app/App.tsx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94360" y="603504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材料来源：E:/code/codex_projects/ReportSystemV2/src/backend/main.py  |  E:/code/codex_projects/ReportSystemV2/src/frontend/src/app/App.tsx  |  E:/code/codex_projects/ReportSystemV2/design/deployment_guide.md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证据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证据 3：为什么这个原型还能持续快速演进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Agent 原型的价值不只在第一次搭起来，还在于骨架建立后可以承接高频迭代。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最近的提交持续围绕实例更新、Fork、预览等关键交互推进。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099816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300984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33298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2826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这说明原型并不是一次性演示件，而是在真实反馈中继续演进。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3867912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069080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10108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0507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一旦主工作流与验证方式稳定，后续细化会明显加速。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15584" y="2331720"/>
            <a:ext cx="574243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5240" dist="12700" dir="2700000">
              <a:srgbClr val="8AA4C7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0176" y="2478024"/>
            <a:ext cx="1572768" cy="274320"/>
          </a:xfrm>
          <a:prstGeom prst="roundRect">
            <a:avLst>
              <a:gd name="adj" fmla="val 26667"/>
            </a:avLst>
          </a:prstGeom>
          <a:solidFill>
            <a:srgbClr val="FFF6DD"/>
          </a:solidFill>
          <a:ln w="12700">
            <a:solidFill>
              <a:srgbClr val="FFF6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2496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7A5B1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真实运行界面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980176" y="2825496"/>
            <a:ext cx="5413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实例详情：更新 / Fork / Markdown 产物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980176" y="3063240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当前运行中的 Device Inspection Report 实例详情页，已经暴露更新、Fork、章节状态与文档产物。</a:t>
            </a:r>
            <a:endParaRPr lang="en-US" sz="950" dirty="0"/>
          </a:p>
        </p:txBody>
      </p:sp>
      <p:pic>
        <p:nvPicPr>
          <p:cNvPr id="28" name="Image 0" descr="E:\code\codex_projects\ReportSystemV2\docs\presentations\codex-smart-report-system-sharing-deck\assets\instance-detail-page.png">    </p:cNvPr>
          <p:cNvPicPr>
            <a:picLocks noChangeAspect="1"/>
          </p:cNvPicPr>
          <p:nvPr/>
        </p:nvPicPr>
        <p:blipFill>
          <a:blip r:embed="rId1"/>
          <a:srcRect l="0" r="0" t="39647" b="39647"/>
          <a:stretch/>
        </p:blipFill>
        <p:spPr>
          <a:xfrm>
            <a:off x="5998464" y="3355848"/>
            <a:ext cx="5376672" cy="12984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80176" y="4791456"/>
            <a:ext cx="5413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截图来源：http://127.0.0.1:8300/instances/9c9475b6-d256-406a-932a-df49782d47b2</a:t>
            </a:r>
            <a:endParaRPr lang="en-US" sz="740" dirty="0"/>
          </a:p>
        </p:txBody>
      </p:sp>
      <p:sp>
        <p:nvSpPr>
          <p:cNvPr id="30" name="Shape 27"/>
          <p:cNvSpPr/>
          <p:nvPr/>
        </p:nvSpPr>
        <p:spPr>
          <a:xfrm>
            <a:off x="713232" y="4681728"/>
            <a:ext cx="4736592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9536" y="4754880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351cf41 2026-03-21 feat: visualize instance update outline preview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713232" y="5084064"/>
            <a:ext cx="47365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9536" y="5157216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daf31e4 2026-03-21 feat: preview instance update flow before opening chat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713232" y="5486400"/>
            <a:ext cx="4736592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9536" y="5559552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2f9be93 2026-03-21 refactor: separate instance update from fork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713232" y="5888736"/>
            <a:ext cx="47365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59536" y="5961888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8807d8c 2026-03-20 merge: internalize template instances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713232" y="6291072"/>
            <a:ext cx="4736592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9536" y="6364224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7de7a21 2026-03-19 feat: add chat fork branches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协作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和其它 coding agent 怎么搭配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关键不是比较谁最强，而是按阶段和职责分工，让不同 agent 各自做最合适的事情。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3891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Codex 适合作为主执行者，负责读仓库、拆解实现、修改代码和补验证。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43891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Antigravity 更适合做设计 review、方案 challenge 或结构性反馈。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438912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Cursor 适合做局部编辑、快速对照和细节微调。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285232" y="2331720"/>
            <a:ext cx="1956816" cy="25786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9824" y="2496312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2514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Codex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9824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主实现与验证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9824" y="3264408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读仓库、调工具、执行计划、补测试、把系统跑起来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424928" y="2331720"/>
            <a:ext cx="1956816" cy="25786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9520" y="2496312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8FAFB"/>
          </a:solidFill>
          <a:ln w="12700">
            <a:solidFill>
              <a:srgbClr val="E8FA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514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Antigravity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89520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设计与方案 review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0" y="3264408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检查设计完整性、挑战假设、补结构化反馈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564624" y="2331720"/>
            <a:ext cx="1956816" cy="257860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29216" y="2496312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29216" y="2514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Cursor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729216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局部编辑与快速对照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29216" y="3264408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细节微调、局部查看、快速小改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同一阶段不必只押一个 agent，关键是清楚谁负责什么。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范围控制与 Codex 调教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Codex 用得顺不顺，核心取决于两件事：你是否主动控制范围，以及你是否提前给足高频上下文与工具。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51663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GPT-5.4 容易给出过满、过完美的方案，因此人必须主动控制需求范围和 YAGNI 边界。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51663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把高频会用到的 skill、环境说明、工具清单提前装好，可以显著减少它反复重试。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51663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如果总让它现猜环境、现试工具，响应时间和稳定性都会变差。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2331720"/>
            <a:ext cx="267004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51460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32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范围控制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54496" y="3008376"/>
            <a:ext cx="146304" cy="14630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先定最小目标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54496" y="3529584"/>
            <a:ext cx="146304" cy="14630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474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明确非目标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54496" y="4050792"/>
            <a:ext cx="146304" cy="14630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995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控制 GPT-5.4 的完美化倾向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06256" y="2331720"/>
            <a:ext cx="267004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89136" y="251460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8FAFB"/>
          </a:solidFill>
          <a:ln w="12700">
            <a:solidFill>
              <a:srgbClr val="E8FA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89136" y="2532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Codex 调教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25712" y="3008376"/>
            <a:ext cx="146304" cy="146304"/>
          </a:xfrm>
          <a:prstGeom prst="ellipse">
            <a:avLst/>
          </a:prstGeom>
          <a:solidFill>
            <a:srgbClr val="0F9FA8"/>
          </a:solidFill>
          <a:ln w="12700">
            <a:solidFill>
              <a:srgbClr val="0F9FA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5168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预装高频 skill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25712" y="3529584"/>
            <a:ext cx="146304" cy="146304"/>
          </a:xfrm>
          <a:prstGeom prst="ellipse">
            <a:avLst/>
          </a:prstGeom>
          <a:solidFill>
            <a:srgbClr val="0F9FA8"/>
          </a:solidFill>
          <a:ln w="12700">
            <a:solidFill>
              <a:srgbClr val="0F9FA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45168" y="3474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给出环境与工具清单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25712" y="4050792"/>
            <a:ext cx="146304" cy="146304"/>
          </a:xfrm>
          <a:prstGeom prst="ellipse">
            <a:avLst/>
          </a:prstGeom>
          <a:solidFill>
            <a:srgbClr val="0F9FA8"/>
          </a:solidFill>
          <a:ln w="12700">
            <a:solidFill>
              <a:srgbClr val="0F9FA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45168" y="3995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减少重复试错与响应时间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观点优先，边界先行，避免对 agent 产生错误预期。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2992" y="54864"/>
            <a:ext cx="1572768" cy="1572768"/>
          </a:xfrm>
          <a:prstGeom prst="ellipse">
            <a:avLst/>
          </a:prstGeom>
          <a:solidFill>
            <a:srgbClr val="EAF2FF">
              <a:alpha val="62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13970">
            <a:solidFill>
              <a:srgbClr val="C4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10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CB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收束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demo 如何继续转成交付件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1344168"/>
            <a:ext cx="736092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3970">
            <a:solidFill>
              <a:srgbClr val="BCD0F8"/>
            </a:solidFill>
            <a:prstDash val="solid"/>
          </a:ln>
          <a:effectLst>
            <a:outerShdw sx="100000" sy="100000" kx="0" ky="0" algn="bl" rotWithShape="0" blurRad="25400" dist="12700" dir="2700000">
              <a:srgbClr val="7EA4F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44168"/>
            <a:ext cx="109728" cy="78638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517904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本次分享停在 demo 和原型验证，但下一步完全可以把这条链延伸为正式设计文档、评审胶片和版本交付材料。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44805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253288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648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16736" y="25146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当前阶段重点是把 demo 跑起来，形成需求讨论和方案验证的基础。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337560"/>
            <a:ext cx="44805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707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16736" y="35204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下一步可以叠加 hw-ipd-software-docs、slides 等能力，把原型沉淀为规范设计文档和评审胶片。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" y="4343400"/>
            <a:ext cx="448056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2700" dir="2700000">
              <a:srgbClr val="8AA4C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544568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765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45262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cloudsop、netgraph 这类能力在本次分享中只作为未来方向，不作为当前已验证能力。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13248" y="2331720"/>
            <a:ext cx="6144768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2704" y="2743200"/>
            <a:ext cx="1312164" cy="585216"/>
          </a:xfrm>
          <a:prstGeom prst="roundRect">
            <a:avLst>
              <a:gd name="adj" fmla="val 10938"/>
            </a:avLst>
          </a:prstGeom>
          <a:solidFill>
            <a:srgbClr val="E8FAFB"/>
          </a:solidFill>
          <a:ln w="13970">
            <a:solidFill>
              <a:srgbClr val="98D7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9008" y="2916936"/>
            <a:ext cx="101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Demo 原型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4868" y="303580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91172" y="2743200"/>
            <a:ext cx="1312164" cy="585216"/>
          </a:xfrm>
          <a:prstGeom prst="roundRect">
            <a:avLst>
              <a:gd name="adj" fmla="val 10938"/>
            </a:avLst>
          </a:prstGeom>
          <a:solidFill>
            <a:srgbClr val="E8FAFB"/>
          </a:solidFill>
          <a:ln w="13970">
            <a:solidFill>
              <a:srgbClr val="98D7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7476" y="2916936"/>
            <a:ext cx="101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设计文档包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03336" y="303580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49640" y="2743200"/>
            <a:ext cx="1312164" cy="585216"/>
          </a:xfrm>
          <a:prstGeom prst="roundRect">
            <a:avLst>
              <a:gd name="adj" fmla="val 10938"/>
            </a:avLst>
          </a:prstGeom>
          <a:solidFill>
            <a:srgbClr val="E8FAFB"/>
          </a:solidFill>
          <a:ln w="13970">
            <a:solidFill>
              <a:srgbClr val="98D7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95944" y="2916936"/>
            <a:ext cx="101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评审胶片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861804" y="3035808"/>
            <a:ext cx="146304" cy="0"/>
          </a:xfrm>
          <a:prstGeom prst="line">
            <a:avLst/>
          </a:prstGeom>
          <a:noFill/>
          <a:ln w="16510">
            <a:solidFill>
              <a:srgbClr val="7C8DA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08108" y="2743200"/>
            <a:ext cx="1312164" cy="585216"/>
          </a:xfrm>
          <a:prstGeom prst="roundRect">
            <a:avLst>
              <a:gd name="adj" fmla="val 10938"/>
            </a:avLst>
          </a:prstGeom>
          <a:solidFill>
            <a:srgbClr val="E8FAFB"/>
          </a:solidFill>
          <a:ln w="13970">
            <a:solidFill>
              <a:srgbClr val="98D7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54412" y="2916936"/>
            <a:ext cx="1019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版本交付件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13248" y="3913632"/>
            <a:ext cx="36393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sx="100000" sy="100000" kx="0" ky="0" algn="bl" rotWithShape="0" blurRad="15240" dist="12700" dir="2700000">
              <a:srgbClr val="8AA4C7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4041648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E8FAFB"/>
          </a:solidFill>
          <a:ln w="12700">
            <a:solidFill>
              <a:srgbClr val="E8FA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4059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当前已产出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577840" y="433425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220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Markdown 报告样例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5577840" y="4663440"/>
            <a:ext cx="3310128" cy="694944"/>
          </a:xfrm>
          <a:prstGeom prst="roundRect">
            <a:avLst>
              <a:gd name="adj" fmla="val 6579"/>
            </a:avLst>
          </a:prstGeom>
          <a:solidFill>
            <a:srgbClr val="F8FBFD"/>
          </a:solidFill>
          <a:ln w="10160">
            <a:solidFill>
              <a:srgbClr val="DCE5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87568" y="477316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# Device Inspection Report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- 实例 ID: 9c9475b6-d256-406a-932a-df49782d47b2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- 状态: draft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## 3. 风险与异常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当前未检测到严重级别的告警事件。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5577840" y="5495544"/>
            <a:ext cx="331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7C8D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assets/sample-generated-report.md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9235440" y="4059936"/>
            <a:ext cx="2304288" cy="786384"/>
          </a:xfrm>
          <a:prstGeom prst="roundRect">
            <a:avLst>
              <a:gd name="adj" fmla="val 9302"/>
            </a:avLst>
          </a:prstGeom>
          <a:solidFill>
            <a:srgbClr val="E8FAFB"/>
          </a:solidFill>
          <a:ln w="12700">
            <a:solidFill>
              <a:srgbClr val="0F9F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0" y="418795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A8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展望说明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418320" y="438912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596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cloudsop / netgraph 在本次分享中仅作为后续要叠加的 skill 方向，不作为当前案例已验证能力。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594360" y="629107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DA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先原型，后工程化；先对齐上下文，再交付版本。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Codex 快速搭建并跑通智能报告系统原型</dc:title>
  <dc:subject>用 Codex 快速搭建并跑通智能报告系统原型</dc:subject>
  <dc:creator>OpenAI Codex</dc:creator>
  <cp:lastModifiedBy>OpenAI Codex</cp:lastModifiedBy>
  <cp:revision>1</cp:revision>
  <dcterms:created xsi:type="dcterms:W3CDTF">2026-03-27T07:19:44Z</dcterms:created>
  <dcterms:modified xsi:type="dcterms:W3CDTF">2026-03-27T07:19:44Z</dcterms:modified>
</cp:coreProperties>
</file>